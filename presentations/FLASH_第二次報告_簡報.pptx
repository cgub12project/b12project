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JhengHei"/>
              </a:defRPr>
            </a:pPr>
            <a:r>
              <a:t>閃騙俠 The F.L.A.S.H.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BBCCDD"/>
                </a:solidFill>
                <a:latin typeface="Microsoft JhengHei"/>
              </a:defRPr>
            </a:pPr>
            <a:r>
              <a:t>Fraud Locator And Scam Hunter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99AACC"/>
                </a:solidFill>
                <a:latin typeface="Microsoft JhengHei"/>
              </a:defRPr>
            </a:pPr>
            <a:r>
              <a:t>軟硬體專題第二次報告 — 設計內容（第 3 節）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899BB"/>
                </a:solidFill>
                <a:latin typeface="Microsoft JhengHei"/>
              </a:defRPr>
            </a:pPr>
            <a:r>
              <a:t>報告日期：2025/06  |  AI 驅動詐騙防護 Android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3.1 軟/硬體建構項目架構</a:t>
            </a:r>
          </a:p>
          <a:p>
            <a:pPr>
              <a:defRPr sz="1800">
                <a:solidFill>
                  <a:srgbClr val="BBCCDD"/>
                </a:solidFill>
                <a:latin typeface="Microsoft JhengHei"/>
              </a:defRPr>
            </a:pPr>
            <a:r>
              <a:t>System Deployment Architecture</a:t>
            </a:r>
          </a:p>
        </p:txBody>
      </p:sp>
      <p:pic>
        <p:nvPicPr>
          <p:cNvPr id="3" name="Picture 2" descr="deploym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858000" cy="4308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46304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三層式架構設計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前端：Android App (Kotlin)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  - SQLite 本地快取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  - Retrofit HTTP Client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網路：Cloudflare Tunnel (HTTPS)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後端：FastAPI (Python)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  - JWT 認證模組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  - AI 分析引擎（規劃中）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資料庫：MySQL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第三方：Google/Facebook OAuth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        165 反詐騙資料庫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3.2 軟硬體組件設計說明</a:t>
            </a:r>
          </a:p>
          <a:p>
            <a:pPr>
              <a:defRPr sz="1800">
                <a:solidFill>
                  <a:srgbClr val="BBCCDD"/>
                </a:solidFill>
                <a:latin typeface="Microsoft JhengHei"/>
              </a:defRPr>
            </a:pPr>
            <a:r>
              <a:t>Component Architecture</a:t>
            </a:r>
          </a:p>
        </p:txBody>
      </p:sp>
      <p:pic>
        <p:nvPicPr>
          <p:cNvPr id="3" name="Picture 2" descr="componen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858000" cy="18159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46304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App 表現層 (12 元件)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  Activities + Fragments + Dialogs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App 資料層 (5 元件)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  TokenManager / ApiClient / APIs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後端 (4 元件)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  Auth Router (6 端點)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  Report Router (2 端點)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  JWT Middleware</a:t>
            </a:r>
          </a:p>
          <a:p>
            <a:pPr>
              <a:spcAft>
                <a:spcPts val="400"/>
              </a:spcAft>
              <a:defRPr sz="1400">
                <a:latin typeface="Microsoft JhengHei"/>
              </a:defRPr>
            </a:pPr>
            <a:r>
              <a:t>  AI Engine（規劃中）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3.3 介面設計說明</a:t>
            </a:r>
          </a:p>
          <a:p>
            <a:pPr>
              <a:defRPr sz="1800">
                <a:solidFill>
                  <a:srgbClr val="BBCCDD"/>
                </a:solidFill>
                <a:latin typeface="Microsoft JhengHei"/>
              </a:defRPr>
            </a:pPr>
            <a:r>
              <a:t>UI Design — 主要畫面</a:t>
            </a:r>
          </a:p>
        </p:txBody>
      </p:sp>
      <p:pic>
        <p:nvPicPr>
          <p:cNvPr id="3" name="Picture 2" descr="img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1737360" cy="25985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852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  <a:latin typeface="Microsoft JhengHei"/>
              </a:defRPr>
            </a:pPr>
            <a:r>
              <a:t>登入</a:t>
            </a:r>
          </a:p>
        </p:txBody>
      </p:sp>
      <p:pic>
        <p:nvPicPr>
          <p:cNvPr id="5" name="Picture 4" descr="img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463040"/>
            <a:ext cx="173736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5852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  <a:latin typeface="Microsoft JhengHei"/>
              </a:defRPr>
            </a:pPr>
            <a:r>
              <a:t>訊息監控</a:t>
            </a:r>
          </a:p>
        </p:txBody>
      </p:sp>
      <p:pic>
        <p:nvPicPr>
          <p:cNvPr id="7" name="Picture 6" descr="img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463040"/>
            <a:ext cx="1737360" cy="34311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5852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  <a:latin typeface="Microsoft JhengHei"/>
              </a:defRPr>
            </a:pPr>
            <a:r>
              <a:t>電話查詢</a:t>
            </a:r>
          </a:p>
        </p:txBody>
      </p:sp>
      <p:pic>
        <p:nvPicPr>
          <p:cNvPr id="9" name="Picture 8" descr="img_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463040"/>
            <a:ext cx="1737360" cy="3474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5852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  <a:latin typeface="Microsoft JhengHei"/>
              </a:defRPr>
            </a:pPr>
            <a:r>
              <a:t>電話詳情</a:t>
            </a:r>
          </a:p>
        </p:txBody>
      </p:sp>
      <p:pic>
        <p:nvPicPr>
          <p:cNvPr id="11" name="Picture 10" descr="img_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1463040"/>
            <a:ext cx="1737360" cy="34682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55280" y="5852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  <a:latin typeface="Microsoft JhengHei"/>
              </a:defRPr>
            </a:pPr>
            <a:r>
              <a:t>威脅檔案</a:t>
            </a:r>
          </a:p>
        </p:txBody>
      </p:sp>
      <p:pic>
        <p:nvPicPr>
          <p:cNvPr id="13" name="Picture 12" descr="img_2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0" y="1463040"/>
            <a:ext cx="1737360" cy="348773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0" y="5852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  <a:latin typeface="Microsoft JhengHei"/>
              </a:defRPr>
            </a:pPr>
            <a:r>
              <a:t>分享警告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3.3 介面設計說明（續）</a:t>
            </a:r>
          </a:p>
          <a:p>
            <a:pPr>
              <a:defRPr sz="1800">
                <a:solidFill>
                  <a:srgbClr val="BBCCDD"/>
                </a:solidFill>
                <a:latin typeface="Microsoft JhengHei"/>
              </a:defRPr>
            </a:pPr>
            <a:r>
              <a:t>認證流程 + 回饋對話框</a:t>
            </a:r>
          </a:p>
        </p:txBody>
      </p:sp>
      <p:pic>
        <p:nvPicPr>
          <p:cNvPr id="3" name="Picture 2" descr="img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1737360" cy="2658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852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  <a:latin typeface="Microsoft JhengHei"/>
              </a:defRPr>
            </a:pPr>
            <a:r>
              <a:t>啟動</a:t>
            </a:r>
          </a:p>
        </p:txBody>
      </p:sp>
      <p:pic>
        <p:nvPicPr>
          <p:cNvPr id="5" name="Picture 4" descr="img_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463040"/>
            <a:ext cx="1737360" cy="30767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5852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  <a:latin typeface="Microsoft JhengHei"/>
              </a:defRPr>
            </a:pPr>
            <a:r>
              <a:t>註冊</a:t>
            </a:r>
          </a:p>
        </p:txBody>
      </p:sp>
      <p:pic>
        <p:nvPicPr>
          <p:cNvPr id="7" name="Picture 6" descr="img_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1463040"/>
            <a:ext cx="1737360" cy="36891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0" y="5852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  <a:latin typeface="Microsoft JhengHei"/>
              </a:defRPr>
            </a:pPr>
            <a:r>
              <a:t>重設密碼</a:t>
            </a:r>
          </a:p>
        </p:txBody>
      </p:sp>
      <p:pic>
        <p:nvPicPr>
          <p:cNvPr id="9" name="Picture 8" descr="img_3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463040"/>
            <a:ext cx="1737360" cy="22730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5852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  <a:latin typeface="Microsoft JhengHei"/>
              </a:defRPr>
            </a:pPr>
            <a:r>
              <a:t>臉部辨識</a:t>
            </a:r>
          </a:p>
        </p:txBody>
      </p:sp>
      <p:pic>
        <p:nvPicPr>
          <p:cNvPr id="11" name="Picture 10" descr="img_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1463040"/>
            <a:ext cx="1737360" cy="34873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55280" y="5852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  <a:latin typeface="Microsoft JhengHei"/>
              </a:defRPr>
            </a:pPr>
            <a:r>
              <a:t>設定</a:t>
            </a:r>
          </a:p>
        </p:txBody>
      </p:sp>
      <p:pic>
        <p:nvPicPr>
          <p:cNvPr id="13" name="Picture 12" descr="img_0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0" y="1463040"/>
            <a:ext cx="1737360" cy="34301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0" y="5852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3C6E"/>
                </a:solidFill>
                <a:latin typeface="Microsoft JhengHei"/>
              </a:defRPr>
            </a:pPr>
            <a:r>
              <a:t>回報表單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3.4 作業程序設計 — Use Case</a:t>
            </a:r>
          </a:p>
          <a:p>
            <a:pPr>
              <a:defRPr sz="1800">
                <a:solidFill>
                  <a:srgbClr val="BBCCDD"/>
                </a:solidFill>
                <a:latin typeface="Microsoft JhengHei"/>
              </a:defRPr>
            </a:pPr>
            <a:r>
              <a:t>1 總圖 + 6 子模組圖 + 4 活動圖</a:t>
            </a:r>
          </a:p>
        </p:txBody>
      </p:sp>
      <p:pic>
        <p:nvPicPr>
          <p:cNvPr id="3" name="Picture 2" descr="uc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6400800" cy="170421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46304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33 個 Use Case / 7 Actor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6 個功能模組：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FR-01 使用者認證（7 UC）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FR-02 訊息監控（7 UC）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FR-03 郵件掃描（6 UC）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FR-04 電話辨識（5 UC）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FR-05 回報與分享（5 UC）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FR-06 設定管理（6 UC）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修正 3 處關係錯誤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新增 4 個 UC：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UC-30 分享詐騙警告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UC-31 查看郵件詳情頁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UC-32 每日安全報告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UC-33 驗證使用者身份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3.5 輸入/輸出設計說明</a:t>
            </a:r>
          </a:p>
          <a:p>
            <a:pPr>
              <a:defRPr sz="1800">
                <a:solidFill>
                  <a:srgbClr val="BBCCDD"/>
                </a:solidFill>
                <a:latin typeface="Microsoft JhengHei"/>
              </a:defRPr>
            </a:pPr>
            <a:r>
              <a:t>API Endpoints + Sequence Diagram</a:t>
            </a:r>
          </a:p>
        </p:txBody>
      </p:sp>
      <p:pic>
        <p:nvPicPr>
          <p:cNvPr id="3" name="Picture 2" descr="api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486400" cy="133904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8 個 API 端點（全部 POST）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認證 API（6 個，不需 Token）：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/auth/login          /auth/register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/auth/forgot-password /auth/verify-otp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/auth/reset-password  /auth/oauth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回報 API（2 個，需 Bearer Token）：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/reports/phone/{number}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/reports/account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JSON Request / Response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Retrofit + OkHttp / Timeout 15s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3.6 其他設計說明</a:t>
            </a:r>
          </a:p>
          <a:p>
            <a:pPr>
              <a:defRPr sz="1800">
                <a:solidFill>
                  <a:srgbClr val="BBCCDD"/>
                </a:solidFill>
                <a:latin typeface="Microsoft JhengHei"/>
              </a:defRPr>
            </a:pPr>
            <a:r>
              <a:t>JWT + AI Engine + Error Handling</a:t>
            </a:r>
          </a:p>
        </p:txBody>
      </p:sp>
      <p:pic>
        <p:nvPicPr>
          <p:cNvPr id="3" name="Picture 2" descr="jwt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303520" cy="79143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46304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JWT 認證機制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- 登入 → access + refresh token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- Bearer Token 附加 HTTP Header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- 後端驗證簽名 + 過期時間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- SharedPreferences 儲存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AI 風險分析引擎（設計規劃）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- 風險分數 0~100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- 三級分類：高危/可疑/安全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- 話術摘要 + 模式標籤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錯誤處理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- 統一 ErrorDetail 格式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- 網路錯誤 → 重試對話框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- Token 過期 → 導回登入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3.6 系統類別圖</a:t>
            </a:r>
          </a:p>
          <a:p>
            <a:pPr>
              <a:defRPr sz="1800">
                <a:solidFill>
                  <a:srgbClr val="BBCCDD"/>
                </a:solidFill>
                <a:latin typeface="Microsoft JhengHei"/>
              </a:defRPr>
            </a:pPr>
            <a:r>
              <a:t>Domain Class Diagram — 15 Classes</a:t>
            </a:r>
          </a:p>
        </p:txBody>
      </p:sp>
      <p:pic>
        <p:nvPicPr>
          <p:cNvPr id="3" name="Picture 2" descr="clas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6858000" cy="39934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146304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15 個領域問題類別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認證模組（4 類別）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User / UserAuthProvider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UserSettings / PasswordResetToken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訊息監控模組（5 類別）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Message / MessageThread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ThreadMessage / SuspectAccount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EvidenceItem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郵件模組: Email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電話模組: PhoneNumber / PhoneReport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回報分享: FraudReport / BlockedContact</a:t>
            </a:r>
          </a:p>
          <a:p>
            <a:pPr>
              <a:spcAft>
                <a:spcPts val="400"/>
              </a:spcAft>
              <a:defRPr sz="1300">
                <a:latin typeface="Microsoft JhengHei"/>
              </a:defRPr>
            </a:pPr>
            <a:r>
              <a:t>         ShareLog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icrosoft JhengHei"/>
              </a:defRPr>
            </a:pPr>
            <a:r>
              <a:t>設計內容總結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Microsoft JhengHei"/>
              </a:defRPr>
            </a:pPr>
            <a:r>
              <a:t>3.1  三層式部署架構（Android + FastAPI + MySQL）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Microsoft JhengHei"/>
              </a:defRPr>
            </a:pPr>
            <a:r>
              <a:t>3.2  21 個軟體元件（App 17 + 後端 4）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Microsoft JhengHei"/>
              </a:defRPr>
            </a:pPr>
            <a:r>
              <a:t>3.3  34 張 UI 截圖涵蓋完整使用流程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Microsoft JhengHei"/>
              </a:defRPr>
            </a:pPr>
            <a:r>
              <a:t>3.4  33 個 Use Case（1 總圖 + 6 子模組圖）+ 4 張活動圖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Microsoft JhengHei"/>
              </a:defRPr>
            </a:pPr>
            <a:r>
              <a:t>3.5  8 個 RESTful API 端點（JSON 格式）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FFFFF"/>
                </a:solidFill>
                <a:latin typeface="Microsoft JhengHei"/>
              </a:defRPr>
            </a:pPr>
            <a:r>
              <a:t>3.6  JWT 認證 + 15 類別圖 + AI 風險分析（規劃）+ 錯誤處理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8899BB"/>
                </a:solidFill>
                <a:latin typeface="Microsoft JhengHei"/>
              </a:defRPr>
            </a:pPr>
            <a:r>
              <a:t>（下一頁：版本控制 — 1 分鐘）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228600"/>
          <a:lstStyle/>
          <a:p>
            <a:pPr algn="l">
              <a:defRPr sz="3600" b="1">
                <a:solidFill>
                  <a:srgbClr val="FFFFFF"/>
                </a:solidFill>
                <a:latin typeface="Microsoft JhengHei"/>
              </a:defRPr>
            </a:pPr>
            <a:r>
              <a:t>版本控制</a:t>
            </a:r>
          </a:p>
          <a:p>
            <a:pPr>
              <a:defRPr sz="1800">
                <a:solidFill>
                  <a:srgbClr val="BBCCDD"/>
                </a:solidFill>
                <a:latin typeface="Microsoft JhengHei"/>
              </a:defRPr>
            </a:pPr>
            <a:r>
              <a:t>Version Control（預留 1 分鐘）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666666"/>
                </a:solidFill>
                <a:latin typeface="Microsoft JhengHei"/>
              </a:defRPr>
            </a:pPr>
            <a:r>
              <a:t>（此頁請自行補充版本控制內容）</a:t>
            </a:r>
            <a:br/>
            <a:br/>
            <a:r>
              <a:t>建議：Git 分支策略、Commit 規範、協作流程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